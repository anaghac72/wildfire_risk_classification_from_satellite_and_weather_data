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AAAA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AAAAAA"/>
                </a:solidFill>
                <a:latin typeface="Arial"/>
              </a:rPr>
              <a:t>Model 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E84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023-4E6E-83E9-4371F5BB280E}"/>
              </c:ext>
            </c:extLst>
          </c:dPt>
          <c:dPt>
            <c:idx val="1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23-4E6E-83E9-4371F5BB280E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23-4E6E-83E9-4371F5BB280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SVM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91.8</c:v>
                </c:pt>
                <c:pt idx="1">
                  <c:v>94.2</c:v>
                </c:pt>
                <c:pt idx="2">
                  <c:v>97.5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023-4E6E-83E9-4371F5BB28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8050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AAAA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AAAAAA"/>
                </a:solidFill>
                <a:latin typeface="Arial"/>
              </a:rPr>
              <a:t>Model Metrics Radar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SVM</c:v>
                </c:pt>
              </c:strCache>
            </c:strRef>
          </c:tx>
          <c:spPr>
            <a:ln w="25400" cap="flat">
              <a:solidFill>
                <a:srgbClr val="E84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4000"/>
              </a:solidFill>
              <a:ln w="9525" cap="flat">
                <a:solidFill>
                  <a:srgbClr val="E8400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  <c:pt idx="3">
                  <c:v>Accuracy</c:v>
                </c:pt>
                <c:pt idx="4">
                  <c:v>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</c:v>
                </c:pt>
                <c:pt idx="1">
                  <c:v>0.9</c:v>
                </c:pt>
                <c:pt idx="2">
                  <c:v>0.9</c:v>
                </c:pt>
                <c:pt idx="3">
                  <c:v>0.91800000000000004</c:v>
                </c:pt>
                <c:pt idx="4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96-4F29-A8EE-B7CAE8555F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RF</c:v>
                </c:pt>
              </c:strCache>
            </c:strRef>
          </c:tx>
          <c:spPr>
            <a:ln w="25400" cap="flat">
              <a:solidFill>
                <a:srgbClr val="FF6B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  <c:pt idx="3">
                  <c:v>Accuracy</c:v>
                </c:pt>
                <c:pt idx="4">
                  <c:v>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0.94</c:v>
                </c:pt>
                <c:pt idx="1">
                  <c:v>0.93</c:v>
                </c:pt>
                <c:pt idx="2">
                  <c:v>0.93</c:v>
                </c:pt>
                <c:pt idx="3">
                  <c:v>0.94199999999999995</c:v>
                </c:pt>
                <c:pt idx="4">
                  <c:v>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96-4F29-A8EE-B7CAE8555F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  <c:pt idx="3">
                  <c:v>Accuracy</c:v>
                </c:pt>
                <c:pt idx="4">
                  <c:v>AUC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0.97499999999999998</c:v>
                </c:pt>
                <c:pt idx="4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96-4F29-A8EE-B7CAE8555F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8050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733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C1CB2-0772-5379-883E-D5F0CC8B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27588A-252C-3469-61BB-0E47ED24C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77869-1404-ED2B-6087-830A4107F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7FA4F-0BCE-51A4-F3A1-CEACDE141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84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ildfireriskclassificationfromsatelliteandweatherdata-8f7vgejc.streamlit.app/" TargetMode="Externa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A0500">
              <a:alpha val="90000"/>
            </a:srgbClr>
          </a:solidFill>
          <a:ln w="12700">
            <a:solidFill>
              <a:srgbClr val="1A050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217920" y="457200"/>
            <a:ext cx="2560320" cy="25603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6858000" y="3200400"/>
            <a:ext cx="1371600" cy="1371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chemeClr val="bg2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chemeClr val="bg1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94360" y="7315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6985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Risk Classification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594360" y="1371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Satellite and Weather Data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9436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using Machine Learning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94360" y="2514600"/>
            <a:ext cx="4572000" cy="27432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724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35"/>
                </a:solidFill>
              </a:rPr>
              <a:t>TEAM MEMBERS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051560" y="29992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Anagha C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051560" y="33284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 Jees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1051560" y="3657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A Sreehari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59436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412480" cy="2286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926080" cy="3474720"/>
          </a:xfrm>
          <a:prstGeom prst="rect">
            <a:avLst/>
          </a:prstGeom>
          <a:solidFill>
            <a:srgbClr val="180500"/>
          </a:solidFill>
          <a:ln w="12700">
            <a:solidFill>
              <a:srgbClr val="E84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9728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</a:rPr>
              <a:t>3.5M+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6576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acres burned annually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in the US alone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40480"/>
            <a:ext cx="457200" cy="4572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840480"/>
            <a:ext cx="457200" cy="4572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3840480"/>
            <a:ext cx="457200" cy="4572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474720" y="960120"/>
            <a:ext cx="5303520" cy="713232"/>
          </a:xfrm>
          <a:prstGeom prst="rect">
            <a:avLst/>
          </a:prstGeom>
          <a:solidFill>
            <a:srgbClr val="1A0800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115568"/>
            <a:ext cx="347472" cy="3474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069080" y="1078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Wildfires threaten forests, wildlife &amp; human lives worldwide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3474720" y="1828800"/>
            <a:ext cx="5303520" cy="713232"/>
          </a:xfrm>
          <a:prstGeom prst="rect">
            <a:avLst/>
          </a:prstGeom>
          <a:solidFill>
            <a:srgbClr val="200000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1984248"/>
            <a:ext cx="347472" cy="34747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069080" y="1947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increases wildfire frequency &amp; intensity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3474720" y="2697480"/>
            <a:ext cx="5303520" cy="713232"/>
          </a:xfrm>
          <a:prstGeom prst="rect">
            <a:avLst/>
          </a:prstGeom>
          <a:solidFill>
            <a:srgbClr val="1A0800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880" y="2852928"/>
            <a:ext cx="347472" cy="34747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069080" y="28163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detection methods are slow and inaccurate</a:t>
            </a:r>
            <a:endParaRPr lang="en-US" sz="1300" dirty="0"/>
          </a:p>
        </p:txBody>
      </p:sp>
      <p:sp>
        <p:nvSpPr>
          <p:cNvPr id="21" name="Shape 12"/>
          <p:cNvSpPr/>
          <p:nvPr/>
        </p:nvSpPr>
        <p:spPr>
          <a:xfrm>
            <a:off x="3474720" y="3566160"/>
            <a:ext cx="5303520" cy="713232"/>
          </a:xfrm>
          <a:prstGeom prst="rect">
            <a:avLst/>
          </a:prstGeom>
          <a:solidFill>
            <a:srgbClr val="200000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3721608"/>
            <a:ext cx="347472" cy="34747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069080" y="3685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can classify wildfire risk early and efficiently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412480" cy="2286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4251960" cy="1371600"/>
          </a:xfrm>
          <a:prstGeom prst="rect">
            <a:avLst/>
          </a:prstGeom>
          <a:solidFill>
            <a:srgbClr val="180500"/>
          </a:solidFill>
          <a:ln w="12700">
            <a:solidFill>
              <a:srgbClr val="E84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097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10698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Predict Wildfire Risk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1832" y="1417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</a:rPr>
              <a:t>Classify risk levels accurately using ML algorithms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960120"/>
            <a:ext cx="4251960" cy="1371600"/>
          </a:xfrm>
          <a:prstGeom prst="rect">
            <a:avLst/>
          </a:prstGeom>
          <a:solidFill>
            <a:srgbClr val="180500"/>
          </a:solidFill>
          <a:ln w="12700">
            <a:solidFill>
              <a:srgbClr val="E84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972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0698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Analyze Meteorological Data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94960" y="1417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</a:rPr>
              <a:t>Study weather patterns, humidity, wind, temperature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56032" y="2560320"/>
            <a:ext cx="4251960" cy="1371600"/>
          </a:xfrm>
          <a:prstGeom prst="rect">
            <a:avLst/>
          </a:prstGeom>
          <a:solidFill>
            <a:srgbClr val="180500"/>
          </a:solidFill>
          <a:ln w="12700">
            <a:solidFill>
              <a:srgbClr val="E84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26974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41832" y="26700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Compare ML Algorithms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41832" y="30175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</a:rPr>
              <a:t>Evaluate SVM, Random Forest, and XGBoost performance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09160" y="2560320"/>
            <a:ext cx="4251960" cy="1371600"/>
          </a:xfrm>
          <a:prstGeom prst="rect">
            <a:avLst/>
          </a:prstGeom>
          <a:solidFill>
            <a:srgbClr val="180500"/>
          </a:solidFill>
          <a:ln w="12700">
            <a:solidFill>
              <a:srgbClr val="E84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6974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26700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Improve Disaster Preparedness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394960" y="30175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</a:rPr>
              <a:t>Enable earlier warnings and better resource allocation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2468880" y="4114800"/>
            <a:ext cx="4114800" cy="1371600"/>
          </a:xfrm>
          <a:prstGeom prst="rect">
            <a:avLst/>
          </a:prstGeom>
          <a:solidFill>
            <a:srgbClr val="180500"/>
          </a:solidFill>
          <a:ln w="12700">
            <a:solidFill>
              <a:srgbClr val="E84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040" y="425196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154680" y="42245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Build Intelligent System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154680" y="4572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</a:rPr>
              <a:t>Deploy real-time wildfire prediction via Streamlit app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412480" cy="2286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8595360" cy="731520"/>
          </a:xfrm>
          <a:prstGeom prst="rect">
            <a:avLst/>
          </a:prstGeom>
          <a:solidFill>
            <a:srgbClr val="1A0500"/>
          </a:solidFill>
          <a:ln w="12700">
            <a:solidFill>
              <a:srgbClr val="E84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5156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05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Algerian Forest Fire Dataset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1344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UCI Machine Learning Repository  |  244 instances  |  Binary Classification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6032" y="1828800"/>
            <a:ext cx="1920240" cy="777240"/>
          </a:xfrm>
          <a:prstGeom prst="rect">
            <a:avLst/>
          </a:prstGeom>
          <a:solidFill>
            <a:srgbClr val="2208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1874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</a:rPr>
              <a:t>244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56032" y="2258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Records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32304" y="1828800"/>
            <a:ext cx="1920240" cy="777240"/>
          </a:xfrm>
          <a:prstGeom prst="rect">
            <a:avLst/>
          </a:prstGeom>
          <a:solidFill>
            <a:srgbClr val="1A05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32304" y="1874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</a:rPr>
              <a:t>13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432304" y="2258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Features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08576" y="1828800"/>
            <a:ext cx="1920240" cy="777240"/>
          </a:xfrm>
          <a:prstGeom prst="rect">
            <a:avLst/>
          </a:prstGeom>
          <a:solidFill>
            <a:srgbClr val="2208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08576" y="1874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</a:rPr>
              <a:t>2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608576" y="2258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Classes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84848" y="1828800"/>
            <a:ext cx="1920240" cy="777240"/>
          </a:xfrm>
          <a:prstGeom prst="rect">
            <a:avLst/>
          </a:prstGeom>
          <a:solidFill>
            <a:srgbClr val="1A05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84848" y="1874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</a:rPr>
              <a:t>2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784848" y="2258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Regions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56032" y="2743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35"/>
                </a:solidFill>
              </a:rPr>
              <a:t>KEY FEATURES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56032" y="3063240"/>
            <a:ext cx="1600200" cy="438912"/>
          </a:xfrm>
          <a:prstGeom prst="rect">
            <a:avLst/>
          </a:prstGeom>
          <a:solidFill>
            <a:srgbClr val="1805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184" y="30998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0"/>
                </a:solidFill>
              </a:rPr>
              <a:t>Temperature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29184" y="32918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Max °C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993392" y="3063240"/>
            <a:ext cx="1600200" cy="438912"/>
          </a:xfrm>
          <a:prstGeom prst="rect">
            <a:avLst/>
          </a:prstGeom>
          <a:solidFill>
            <a:srgbClr val="1805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066544" y="30998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0"/>
                </a:solidFill>
              </a:rPr>
              <a:t>RH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066544" y="32918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Humidity %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730752" y="3063240"/>
            <a:ext cx="1600200" cy="438912"/>
          </a:xfrm>
          <a:prstGeom prst="rect">
            <a:avLst/>
          </a:prstGeom>
          <a:solidFill>
            <a:srgbClr val="1805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803904" y="30998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0"/>
                </a:solidFill>
              </a:rPr>
              <a:t>Ws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803904" y="32918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Wind km/h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468112" y="3063240"/>
            <a:ext cx="1600200" cy="438912"/>
          </a:xfrm>
          <a:prstGeom prst="rect">
            <a:avLst/>
          </a:prstGeom>
          <a:solidFill>
            <a:srgbClr val="1805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0998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0"/>
                </a:solidFill>
              </a:rPr>
              <a:t>Rain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541264" y="32918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Rainfall mm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205472" y="3063240"/>
            <a:ext cx="1600200" cy="438912"/>
          </a:xfrm>
          <a:prstGeom prst="rect">
            <a:avLst/>
          </a:prstGeom>
          <a:solidFill>
            <a:srgbClr val="1805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78624" y="30998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0"/>
                </a:solidFill>
              </a:rPr>
              <a:t>FFMC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278624" y="32918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Fine Fuel Moisture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256032" y="3593592"/>
            <a:ext cx="1600200" cy="438912"/>
          </a:xfrm>
          <a:prstGeom prst="rect">
            <a:avLst/>
          </a:prstGeom>
          <a:solidFill>
            <a:srgbClr val="1805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29184" y="3630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0"/>
                </a:solidFill>
              </a:rPr>
              <a:t>DMC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29184" y="38221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Duff Moisture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1993392" y="3593592"/>
            <a:ext cx="1600200" cy="438912"/>
          </a:xfrm>
          <a:prstGeom prst="rect">
            <a:avLst/>
          </a:prstGeom>
          <a:solidFill>
            <a:srgbClr val="1805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066544" y="3630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0"/>
                </a:solidFill>
              </a:rPr>
              <a:t>DC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066544" y="38221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Drought Code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3730752" y="3593592"/>
            <a:ext cx="1600200" cy="438912"/>
          </a:xfrm>
          <a:prstGeom prst="rect">
            <a:avLst/>
          </a:prstGeom>
          <a:solidFill>
            <a:srgbClr val="1805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803904" y="3630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0"/>
                </a:solidFill>
              </a:rPr>
              <a:t>ISI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3803904" y="38221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Initial Spread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5468112" y="3593592"/>
            <a:ext cx="1600200" cy="438912"/>
          </a:xfrm>
          <a:prstGeom prst="rect">
            <a:avLst/>
          </a:prstGeom>
          <a:solidFill>
            <a:srgbClr val="1805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541264" y="3630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0"/>
                </a:solidFill>
              </a:rPr>
              <a:t>BUI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541264" y="38221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Build Up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7205472" y="3593592"/>
            <a:ext cx="1600200" cy="438912"/>
          </a:xfrm>
          <a:prstGeom prst="rect">
            <a:avLst/>
          </a:prstGeom>
          <a:solidFill>
            <a:srgbClr val="1805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278624" y="3630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0"/>
                </a:solidFill>
              </a:rPr>
              <a:t>FWI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7278624" y="38221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Fire Weather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412480" cy="2286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1536192" cy="1005840"/>
          </a:xfrm>
          <a:prstGeom prst="rect">
            <a:avLst/>
          </a:prstGeom>
          <a:solidFill>
            <a:srgbClr val="1805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601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Collection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92224" y="1362456"/>
            <a:ext cx="201168" cy="164592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960120"/>
            <a:ext cx="1536192" cy="1005840"/>
          </a:xfrm>
          <a:prstGeom prst="rect">
            <a:avLst/>
          </a:prstGeom>
          <a:solidFill>
            <a:srgbClr val="18050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9601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9584" y="1362456"/>
            <a:ext cx="201168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0752" y="960120"/>
            <a:ext cx="1536192" cy="1005840"/>
          </a:xfrm>
          <a:prstGeom prst="rect">
            <a:avLst/>
          </a:prstGeom>
          <a:solidFill>
            <a:srgbClr val="1805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9601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66944" y="1362456"/>
            <a:ext cx="201168" cy="164592"/>
          </a:xfrm>
          <a:prstGeom prst="rect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68112" y="960120"/>
            <a:ext cx="1536192" cy="1005840"/>
          </a:xfrm>
          <a:prstGeom prst="rect">
            <a:avLst/>
          </a:prstGeom>
          <a:solidFill>
            <a:srgbClr val="180500"/>
          </a:solidFill>
          <a:ln w="12700">
            <a:solidFill>
              <a:srgbClr val="AA5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9601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Train/Test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Split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04304" y="1362456"/>
            <a:ext cx="201168" cy="164592"/>
          </a:xfrm>
          <a:prstGeom prst="rect">
            <a:avLst/>
          </a:prstGeom>
          <a:solidFill>
            <a:srgbClr val="AA5500"/>
          </a:solidFill>
          <a:ln w="12700">
            <a:solidFill>
              <a:srgbClr val="AA5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05472" y="960120"/>
            <a:ext cx="1536192" cy="1005840"/>
          </a:xfrm>
          <a:prstGeom prst="rect">
            <a:avLst/>
          </a:prstGeom>
          <a:solidFill>
            <a:srgbClr val="1805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96012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62272" y="1965960"/>
            <a:ext cx="13716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25112" y="2423160"/>
            <a:ext cx="411480" cy="1371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2697480"/>
            <a:ext cx="1536192" cy="1005840"/>
          </a:xfrm>
          <a:prstGeom prst="rect">
            <a:avLst/>
          </a:prstGeom>
          <a:solidFill>
            <a:srgbClr val="1805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69748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SVM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48272" y="3118104"/>
            <a:ext cx="201168" cy="164592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2697480"/>
            <a:ext cx="1536192" cy="1005840"/>
          </a:xfrm>
          <a:prstGeom prst="rect">
            <a:avLst/>
          </a:prstGeom>
          <a:solidFill>
            <a:srgbClr val="18050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69748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Forest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10912" y="3118104"/>
            <a:ext cx="201168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2697480"/>
            <a:ext cx="1536192" cy="1005840"/>
          </a:xfrm>
          <a:prstGeom prst="rect">
            <a:avLst/>
          </a:prstGeom>
          <a:solidFill>
            <a:srgbClr val="1805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69748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XGBoost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73552" y="3118104"/>
            <a:ext cx="201168" cy="164592"/>
          </a:xfrm>
          <a:prstGeom prst="rect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2697480"/>
            <a:ext cx="1536192" cy="1005840"/>
          </a:xfrm>
          <a:prstGeom prst="rect">
            <a:avLst/>
          </a:prstGeom>
          <a:solidFill>
            <a:srgbClr val="180500"/>
          </a:solidFill>
          <a:ln w="12700">
            <a:solidFill>
              <a:srgbClr val="AA5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269748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Metrics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536192" y="3118104"/>
            <a:ext cx="201168" cy="164592"/>
          </a:xfrm>
          <a:prstGeom prst="rect">
            <a:avLst/>
          </a:prstGeom>
          <a:solidFill>
            <a:srgbClr val="AA5500"/>
          </a:solidFill>
          <a:ln w="12700">
            <a:solidFill>
              <a:srgbClr val="AA55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97480"/>
            <a:ext cx="1536192" cy="1005840"/>
          </a:xfrm>
          <a:prstGeom prst="rect">
            <a:avLst/>
          </a:prstGeom>
          <a:solidFill>
            <a:srgbClr val="18050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2697480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6032" y="38404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</a:rPr>
              <a:t>80% Training  |  20% Testing  |  StandardScaler Normalization  |  Label Encoding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412480" cy="2286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2743200" cy="3886200"/>
          </a:xfrm>
          <a:prstGeom prst="rect">
            <a:avLst/>
          </a:prstGeom>
          <a:solidFill>
            <a:srgbClr val="180500"/>
          </a:solidFill>
          <a:ln w="12700">
            <a:solidFill>
              <a:srgbClr val="E840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2743200" cy="128016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11430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6032" y="18105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000"/>
                </a:solidFill>
              </a:rPr>
              <a:t>SVM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56032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Support Vector Machine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" y="2606040"/>
            <a:ext cx="2194560" cy="2286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74320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" y="27066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RBF Kernel (Radial Basis Function)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21868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952" y="3182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Regularization C = 1.0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69417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8952" y="3657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Probability estimates enabled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16966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58952" y="4133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Optimal for high-dimensional space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3200400" y="960120"/>
            <a:ext cx="2743200" cy="3886200"/>
          </a:xfrm>
          <a:prstGeom prst="rect">
            <a:avLst/>
          </a:prstGeom>
          <a:solidFill>
            <a:srgbClr val="180500"/>
          </a:solidFill>
          <a:ln w="12700">
            <a:solidFill>
              <a:srgbClr val="FF6B35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3200400" y="960120"/>
            <a:ext cx="2743200" cy="1280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1143000"/>
            <a:ext cx="594360" cy="5943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200400" y="18105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</a:rPr>
              <a:t>RF</a:t>
            </a:r>
            <a:endParaRPr lang="en-US" sz="2200" dirty="0"/>
          </a:p>
        </p:txBody>
      </p:sp>
      <p:sp>
        <p:nvSpPr>
          <p:cNvPr id="23" name="Text 15"/>
          <p:cNvSpPr/>
          <p:nvPr/>
        </p:nvSpPr>
        <p:spPr>
          <a:xfrm>
            <a:off x="320040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3474720" y="2606040"/>
            <a:ext cx="2194560" cy="228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743200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703320" y="27066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200 Decision Trees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218688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703320" y="3182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Max Depth: 10</a:t>
            </a:r>
            <a:endParaRPr lang="en-US" sz="10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694176"/>
            <a:ext cx="256032" cy="25603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703320" y="3657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Feature importance scores</a:t>
            </a:r>
            <a:endParaRPr lang="en-US" sz="10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4169664"/>
            <a:ext cx="256032" cy="25603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703320" y="4133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Robust against overfitting</a:t>
            </a:r>
            <a:endParaRPr lang="en-US" sz="1000" dirty="0"/>
          </a:p>
        </p:txBody>
      </p:sp>
      <p:sp>
        <p:nvSpPr>
          <p:cNvPr id="33" name="Shape 21"/>
          <p:cNvSpPr/>
          <p:nvPr/>
        </p:nvSpPr>
        <p:spPr>
          <a:xfrm>
            <a:off x="6144768" y="960120"/>
            <a:ext cx="2743200" cy="3886200"/>
          </a:xfrm>
          <a:prstGeom prst="rect">
            <a:avLst/>
          </a:prstGeom>
          <a:solidFill>
            <a:srgbClr val="180500"/>
          </a:solidFill>
          <a:ln w="12700">
            <a:solidFill>
              <a:srgbClr val="22C55E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4" name="Shape 22"/>
          <p:cNvSpPr/>
          <p:nvPr/>
        </p:nvSpPr>
        <p:spPr>
          <a:xfrm>
            <a:off x="6144768" y="960120"/>
            <a:ext cx="2743200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143000"/>
            <a:ext cx="594360" cy="59436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144768" y="18105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</a:rPr>
              <a:t>XGB</a:t>
            </a:r>
            <a:endParaRPr lang="en-US" sz="2200" dirty="0"/>
          </a:p>
        </p:txBody>
      </p:sp>
      <p:sp>
        <p:nvSpPr>
          <p:cNvPr id="37" name="Text 24"/>
          <p:cNvSpPr/>
          <p:nvPr/>
        </p:nvSpPr>
        <p:spPr>
          <a:xfrm>
            <a:off x="6144768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XGBoost</a:t>
            </a:r>
            <a:endParaRPr lang="en-US" sz="1000" dirty="0"/>
          </a:p>
        </p:txBody>
      </p:sp>
      <p:sp>
        <p:nvSpPr>
          <p:cNvPr id="38" name="Shape 25"/>
          <p:cNvSpPr/>
          <p:nvPr/>
        </p:nvSpPr>
        <p:spPr>
          <a:xfrm>
            <a:off x="6419088" y="2606040"/>
            <a:ext cx="2194560" cy="228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743200"/>
            <a:ext cx="256032" cy="25603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647688" y="27066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200 Boosting Rounds</a:t>
            </a:r>
            <a:endParaRPr lang="en-US" sz="100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3218688"/>
            <a:ext cx="256032" cy="256032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647688" y="3182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Learning Rate: 0.1</a:t>
            </a:r>
            <a:endParaRPr lang="en-US" sz="1000" dirty="0"/>
          </a:p>
        </p:txBody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3694176"/>
            <a:ext cx="256032" cy="256032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6647688" y="3657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Max Depth: 6</a:t>
            </a:r>
            <a:endParaRPr lang="en-US" sz="1000" dirty="0"/>
          </a:p>
        </p:txBody>
      </p:sp>
      <p:pic>
        <p:nvPicPr>
          <p:cNvPr id="45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4169664"/>
            <a:ext cx="256032" cy="256032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6647688" y="4133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State-of-art gradient boosting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Visualizations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412480" cy="2286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56032" y="914400"/>
          <a:ext cx="4206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53712" y="914400"/>
          <a:ext cx="42976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56032" y="3840480"/>
            <a:ext cx="8595360" cy="868680"/>
          </a:xfrm>
          <a:prstGeom prst="rect">
            <a:avLst/>
          </a:prstGeom>
          <a:solidFill>
            <a:srgbClr val="0A1A05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995928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391363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achieved best performance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97.5% accuracy, 0.99 AUC-ROC, and highest F1-Score across all classes.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412480" cy="2286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05840"/>
            <a:ext cx="3474720" cy="1051560"/>
          </a:xfrm>
          <a:prstGeom prst="rect">
            <a:avLst/>
          </a:prstGeom>
          <a:solidFill>
            <a:srgbClr val="180500"/>
          </a:solidFill>
          <a:ln w="12700">
            <a:solidFill>
              <a:srgbClr val="E84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8016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972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User Input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4081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Weather params: Temp, RH, Wind, Rain, Indices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719072" y="2057400"/>
            <a:ext cx="137160" cy="18288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6032" y="2240280"/>
            <a:ext cx="3474720" cy="1051560"/>
          </a:xfrm>
          <a:prstGeom prst="rect">
            <a:avLst/>
          </a:prstGeom>
          <a:solidFill>
            <a:srgbClr val="180500"/>
          </a:solidFill>
          <a:ln w="12700">
            <a:solidFill>
              <a:srgbClr val="E8400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14600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ML Prediction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60120" y="264261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XGBoost model processes inputs in real-time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719072" y="3291840"/>
            <a:ext cx="137160" cy="18288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6032" y="3474720"/>
            <a:ext cx="3474720" cy="1051560"/>
          </a:xfrm>
          <a:prstGeom prst="rect">
            <a:avLst/>
          </a:prstGeom>
          <a:solidFill>
            <a:srgbClr val="180500"/>
          </a:solidFill>
          <a:ln w="12700">
            <a:solidFill>
              <a:srgbClr val="E8400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74904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566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Risk Output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60120" y="387705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0"/>
                </a:solidFill>
              </a:rPr>
              <a:t>Low / Medium / High wildfire risk classification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995928" y="470916"/>
            <a:ext cx="4983480" cy="3657600"/>
          </a:xfrm>
          <a:prstGeom prst="rect">
            <a:avLst/>
          </a:prstGeom>
          <a:solidFill>
            <a:srgbClr val="0D0D0D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663440" y="960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793707" y="4532081"/>
            <a:ext cx="554337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URL : 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https://wildfireriskclassificationfromsatelliteandweatherdata-8f7vgejc.streamlit.app/ 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256032" y="4663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1463040" y="4663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2670048" y="4663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21F85D4-6485-024D-4972-043BDD2380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2192" y="384047"/>
            <a:ext cx="5321808" cy="40543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86710-7612-0125-B7CC-569797F0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6E1D47-560D-EBE3-A53D-06F7B5546DD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DC486F3-4EF8-A1DD-5E80-4E440198E0E8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880D57-6352-EF45-AE40-D9F2786BD840}"/>
              </a:ext>
            </a:extLst>
          </p:cNvPr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0517B2A-8A7B-6D02-B4A1-BA54744B90C4}"/>
              </a:ext>
            </a:extLst>
          </p:cNvPr>
          <p:cNvSpPr/>
          <p:nvPr/>
        </p:nvSpPr>
        <p:spPr>
          <a:xfrm>
            <a:off x="274320" y="777240"/>
            <a:ext cx="8412480" cy="2286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4DC9D5-8A34-B135-445E-ED5C8CD1AEF9}"/>
              </a:ext>
            </a:extLst>
          </p:cNvPr>
          <p:cNvSpPr/>
          <p:nvPr/>
        </p:nvSpPr>
        <p:spPr>
          <a:xfrm>
            <a:off x="256032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35"/>
                </a:solidFill>
              </a:rPr>
              <a:t>CONCLUSION</a:t>
            </a: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7C26853-8EA0-0FFD-F712-1C4EE459EB86}"/>
              </a:ext>
            </a:extLst>
          </p:cNvPr>
          <p:cNvSpPr/>
          <p:nvPr/>
        </p:nvSpPr>
        <p:spPr>
          <a:xfrm>
            <a:off x="256032" y="1280160"/>
            <a:ext cx="3931920" cy="566928"/>
          </a:xfrm>
          <a:prstGeom prst="rect">
            <a:avLst/>
          </a:prstGeom>
          <a:solidFill>
            <a:srgbClr val="180500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A6854FFE-8A62-5335-B2E6-396D36EE7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389888"/>
            <a:ext cx="274320" cy="27432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06926045-3BF1-4FA3-2396-D01ECEC6022D}"/>
              </a:ext>
            </a:extLst>
          </p:cNvPr>
          <p:cNvSpPr/>
          <p:nvPr/>
        </p:nvSpPr>
        <p:spPr>
          <a:xfrm>
            <a:off x="749808" y="1335024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effectively predicts wildfire risk levels</a:t>
            </a:r>
            <a:endParaRPr lang="en-US" sz="11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AE2427B-D543-03B9-AB32-F06F339DF736}"/>
              </a:ext>
            </a:extLst>
          </p:cNvPr>
          <p:cNvSpPr/>
          <p:nvPr/>
        </p:nvSpPr>
        <p:spPr>
          <a:xfrm>
            <a:off x="256032" y="1947672"/>
            <a:ext cx="3931920" cy="566928"/>
          </a:xfrm>
          <a:prstGeom prst="rect">
            <a:avLst/>
          </a:prstGeom>
          <a:solidFill>
            <a:srgbClr val="180500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C7F02C5A-3AF7-5B1D-F7A3-F9347527A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057400"/>
            <a:ext cx="274320" cy="27432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353B7BBA-57D1-5229-F61A-1970AF43F77E}"/>
              </a:ext>
            </a:extLst>
          </p:cNvPr>
          <p:cNvSpPr/>
          <p:nvPr/>
        </p:nvSpPr>
        <p:spPr>
          <a:xfrm>
            <a:off x="749808" y="2002536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achieved 97.5% accuracy</a:t>
            </a:r>
            <a:endParaRPr lang="en-US" sz="11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DDBB64CA-737A-8B4B-08B0-4E7F2D32678F}"/>
              </a:ext>
            </a:extLst>
          </p:cNvPr>
          <p:cNvSpPr/>
          <p:nvPr/>
        </p:nvSpPr>
        <p:spPr>
          <a:xfrm>
            <a:off x="256032" y="2615184"/>
            <a:ext cx="3931920" cy="566928"/>
          </a:xfrm>
          <a:prstGeom prst="rect">
            <a:avLst/>
          </a:prstGeom>
          <a:solidFill>
            <a:srgbClr val="180500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A1280F50-50E4-2533-CA74-322C3D794E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724912"/>
            <a:ext cx="274320" cy="27432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04C8A855-4AD9-6E2F-5A03-AE4169AAE9C0}"/>
              </a:ext>
            </a:extLst>
          </p:cNvPr>
          <p:cNvSpPr/>
          <p:nvPr/>
        </p:nvSpPr>
        <p:spPr>
          <a:xfrm>
            <a:off x="749808" y="267004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aids disaster management</a:t>
            </a:r>
            <a:endParaRPr lang="en-US" sz="11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03C39431-21E0-EE65-AAAB-3EA878AB2014}"/>
              </a:ext>
            </a:extLst>
          </p:cNvPr>
          <p:cNvSpPr/>
          <p:nvPr/>
        </p:nvSpPr>
        <p:spPr>
          <a:xfrm>
            <a:off x="256032" y="3282696"/>
            <a:ext cx="3931920" cy="566928"/>
          </a:xfrm>
          <a:prstGeom prst="rect">
            <a:avLst/>
          </a:prstGeom>
          <a:solidFill>
            <a:srgbClr val="180500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00D85D32-D8BC-5BBC-1817-C6F463B48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392424"/>
            <a:ext cx="274320" cy="27432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BF14C696-5C39-97B2-F6D7-2B7B72693231}"/>
              </a:ext>
            </a:extLst>
          </p:cNvPr>
          <p:cNvSpPr/>
          <p:nvPr/>
        </p:nvSpPr>
        <p:spPr>
          <a:xfrm>
            <a:off x="749808" y="333756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deployment-ready via Streamlit</a:t>
            </a:r>
            <a:endParaRPr lang="en-US" sz="11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BE658CF0-64A2-EB28-353F-747C450DB393}"/>
              </a:ext>
            </a:extLst>
          </p:cNvPr>
          <p:cNvSpPr/>
          <p:nvPr/>
        </p:nvSpPr>
        <p:spPr>
          <a:xfrm>
            <a:off x="4370832" y="960120"/>
            <a:ext cx="36576" cy="3520440"/>
          </a:xfrm>
          <a:prstGeom prst="rect">
            <a:avLst/>
          </a:prstGeom>
          <a:solidFill>
            <a:srgbClr val="E84000"/>
          </a:solidFill>
          <a:ln w="12700">
            <a:solidFill>
              <a:srgbClr val="E84000"/>
            </a:solidFill>
            <a:prstDash val="solid"/>
          </a:ln>
        </p:spPr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99CA6C54-8DA5-5589-DC62-C125B5AAF6E0}"/>
              </a:ext>
            </a:extLst>
          </p:cNvPr>
          <p:cNvSpPr/>
          <p:nvPr/>
        </p:nvSpPr>
        <p:spPr>
          <a:xfrm>
            <a:off x="4617720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C55E"/>
                </a:solidFill>
              </a:rPr>
              <a:t>FUTURE SCOPE</a:t>
            </a:r>
            <a:endParaRPr lang="en-US" sz="90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E80BC77F-BC07-0DD6-4838-AA873306E1AB}"/>
              </a:ext>
            </a:extLst>
          </p:cNvPr>
          <p:cNvSpPr/>
          <p:nvPr/>
        </p:nvSpPr>
        <p:spPr>
          <a:xfrm>
            <a:off x="4617720" y="1280160"/>
            <a:ext cx="4297680" cy="566928"/>
          </a:xfrm>
          <a:prstGeom prst="rect">
            <a:avLst/>
          </a:prstGeom>
          <a:solidFill>
            <a:srgbClr val="0A1A05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22" name="Image 4" descr="preencoded.png">
            <a:extLst>
              <a:ext uri="{FF2B5EF4-FFF2-40B4-BE49-F238E27FC236}">
                <a16:creationId xmlns:a16="http://schemas.microsoft.com/office/drawing/2014/main" id="{DA5293DB-A28E-3D04-AD13-5945C767B6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1389888"/>
            <a:ext cx="274320" cy="274320"/>
          </a:xfrm>
          <a:prstGeom prst="rect">
            <a:avLst/>
          </a:prstGeom>
        </p:spPr>
      </p:pic>
      <p:sp>
        <p:nvSpPr>
          <p:cNvPr id="23" name="Text 16">
            <a:extLst>
              <a:ext uri="{FF2B5EF4-FFF2-40B4-BE49-F238E27FC236}">
                <a16:creationId xmlns:a16="http://schemas.microsoft.com/office/drawing/2014/main" id="{AA984E70-F0A6-E0A9-4743-0EEFA502BEDE}"/>
              </a:ext>
            </a:extLst>
          </p:cNvPr>
          <p:cNvSpPr/>
          <p:nvPr/>
        </p:nvSpPr>
        <p:spPr>
          <a:xfrm>
            <a:off x="5102352" y="1307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Real-time Satellite Integration</a:t>
            </a:r>
            <a:endParaRPr lang="en-US" sz="11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4ED9DC6B-BB44-C638-46BD-23AFC5655DEE}"/>
              </a:ext>
            </a:extLst>
          </p:cNvPr>
          <p:cNvSpPr/>
          <p:nvPr/>
        </p:nvSpPr>
        <p:spPr>
          <a:xfrm>
            <a:off x="5102352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Live NASA MODIS data feeds</a:t>
            </a:r>
            <a:endParaRPr lang="en-US" sz="95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13BF479D-94A7-2FC5-0D34-C084A8AD4168}"/>
              </a:ext>
            </a:extLst>
          </p:cNvPr>
          <p:cNvSpPr/>
          <p:nvPr/>
        </p:nvSpPr>
        <p:spPr>
          <a:xfrm>
            <a:off x="4617720" y="1947672"/>
            <a:ext cx="4297680" cy="566928"/>
          </a:xfrm>
          <a:prstGeom prst="rect">
            <a:avLst/>
          </a:prstGeom>
          <a:solidFill>
            <a:srgbClr val="0A1A05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26" name="Image 5" descr="preencoded.png">
            <a:extLst>
              <a:ext uri="{FF2B5EF4-FFF2-40B4-BE49-F238E27FC236}">
                <a16:creationId xmlns:a16="http://schemas.microsoft.com/office/drawing/2014/main" id="{13A0D955-3027-AF53-B59B-E40D1A2C07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057400"/>
            <a:ext cx="274320" cy="274320"/>
          </a:xfrm>
          <a:prstGeom prst="rect">
            <a:avLst/>
          </a:prstGeom>
        </p:spPr>
      </p:pic>
      <p:sp>
        <p:nvSpPr>
          <p:cNvPr id="27" name="Text 19">
            <a:extLst>
              <a:ext uri="{FF2B5EF4-FFF2-40B4-BE49-F238E27FC236}">
                <a16:creationId xmlns:a16="http://schemas.microsoft.com/office/drawing/2014/main" id="{588E8FD9-6BB6-C4E7-A991-658FF71290DC}"/>
              </a:ext>
            </a:extLst>
          </p:cNvPr>
          <p:cNvSpPr/>
          <p:nvPr/>
        </p:nvSpPr>
        <p:spPr>
          <a:xfrm>
            <a:off x="5102352" y="19751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Deep Learning Models</a:t>
            </a:r>
            <a:endParaRPr lang="en-US" sz="11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40F33B72-4F44-DE61-7CCA-5F2B2029E88E}"/>
              </a:ext>
            </a:extLst>
          </p:cNvPr>
          <p:cNvSpPr/>
          <p:nvPr/>
        </p:nvSpPr>
        <p:spPr>
          <a:xfrm>
            <a:off x="5102352" y="22037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CNN/LSTM for spatial-temporal patterns</a:t>
            </a:r>
            <a:endParaRPr lang="en-US" sz="95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A4356653-8789-7043-1EC7-FC8B739519B3}"/>
              </a:ext>
            </a:extLst>
          </p:cNvPr>
          <p:cNvSpPr/>
          <p:nvPr/>
        </p:nvSpPr>
        <p:spPr>
          <a:xfrm>
            <a:off x="4617720" y="2615184"/>
            <a:ext cx="4297680" cy="566928"/>
          </a:xfrm>
          <a:prstGeom prst="rect">
            <a:avLst/>
          </a:prstGeom>
          <a:solidFill>
            <a:srgbClr val="0A1A05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30" name="Image 6" descr="preencoded.png">
            <a:extLst>
              <a:ext uri="{FF2B5EF4-FFF2-40B4-BE49-F238E27FC236}">
                <a16:creationId xmlns:a16="http://schemas.microsoft.com/office/drawing/2014/main" id="{6CA772CD-3944-77FD-F14E-DD8B8829D8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2724912"/>
            <a:ext cx="274320" cy="274320"/>
          </a:xfrm>
          <a:prstGeom prst="rect">
            <a:avLst/>
          </a:prstGeom>
        </p:spPr>
      </p:pic>
      <p:sp>
        <p:nvSpPr>
          <p:cNvPr id="31" name="Text 22">
            <a:extLst>
              <a:ext uri="{FF2B5EF4-FFF2-40B4-BE49-F238E27FC236}">
                <a16:creationId xmlns:a16="http://schemas.microsoft.com/office/drawing/2014/main" id="{882B2234-3789-AAEC-A08B-8571E859E51A}"/>
              </a:ext>
            </a:extLst>
          </p:cNvPr>
          <p:cNvSpPr/>
          <p:nvPr/>
        </p:nvSpPr>
        <p:spPr>
          <a:xfrm>
            <a:off x="5102352" y="26426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IoT Sensor Networks</a:t>
            </a:r>
            <a:endParaRPr lang="en-US" sz="1100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04E3E5CE-B083-906A-3733-889A6BFC323B}"/>
              </a:ext>
            </a:extLst>
          </p:cNvPr>
          <p:cNvSpPr/>
          <p:nvPr/>
        </p:nvSpPr>
        <p:spPr>
          <a:xfrm>
            <a:off x="5102352" y="28712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Ground sensor data integration</a:t>
            </a:r>
            <a:endParaRPr lang="en-US" sz="950" dirty="0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15470DED-F57B-6E96-3738-40FA30D9C4B2}"/>
              </a:ext>
            </a:extLst>
          </p:cNvPr>
          <p:cNvSpPr/>
          <p:nvPr/>
        </p:nvSpPr>
        <p:spPr>
          <a:xfrm>
            <a:off x="4617720" y="3282696"/>
            <a:ext cx="4297680" cy="566928"/>
          </a:xfrm>
          <a:prstGeom prst="rect">
            <a:avLst/>
          </a:prstGeom>
          <a:solidFill>
            <a:srgbClr val="0A1A05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34" name="Image 7" descr="preencoded.png">
            <a:extLst>
              <a:ext uri="{FF2B5EF4-FFF2-40B4-BE49-F238E27FC236}">
                <a16:creationId xmlns:a16="http://schemas.microsoft.com/office/drawing/2014/main" id="{0A768071-4B98-3E28-8956-701F4ADF6B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3392424"/>
            <a:ext cx="274320" cy="274320"/>
          </a:xfrm>
          <a:prstGeom prst="rect">
            <a:avLst/>
          </a:prstGeom>
        </p:spPr>
      </p:pic>
      <p:sp>
        <p:nvSpPr>
          <p:cNvPr id="35" name="Text 25">
            <a:extLst>
              <a:ext uri="{FF2B5EF4-FFF2-40B4-BE49-F238E27FC236}">
                <a16:creationId xmlns:a16="http://schemas.microsoft.com/office/drawing/2014/main" id="{92A402D3-EF88-0D0C-EA24-81D7ECB57BC5}"/>
              </a:ext>
            </a:extLst>
          </p:cNvPr>
          <p:cNvSpPr/>
          <p:nvPr/>
        </p:nvSpPr>
        <p:spPr>
          <a:xfrm>
            <a:off x="5102352" y="3310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Live Dashboard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1420F5C-5CD4-91BE-16C2-5D4491AB7496}"/>
              </a:ext>
            </a:extLst>
          </p:cNvPr>
          <p:cNvSpPr/>
          <p:nvPr/>
        </p:nvSpPr>
        <p:spPr>
          <a:xfrm>
            <a:off x="5102352" y="3538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Real-time wildfire monitoring UI</a:t>
            </a:r>
            <a:endParaRPr lang="en-US" sz="950" dirty="0"/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AE2DFF67-8034-DA97-4564-21689304E4B3}"/>
              </a:ext>
            </a:extLst>
          </p:cNvPr>
          <p:cNvSpPr/>
          <p:nvPr/>
        </p:nvSpPr>
        <p:spPr>
          <a:xfrm>
            <a:off x="256032" y="4343400"/>
            <a:ext cx="8595360" cy="566928"/>
          </a:xfrm>
          <a:prstGeom prst="rect">
            <a:avLst/>
          </a:prstGeom>
          <a:solidFill>
            <a:srgbClr val="1A0500"/>
          </a:solidFill>
          <a:ln w="12700">
            <a:solidFill>
              <a:srgbClr val="E84000"/>
            </a:solidFill>
            <a:prstDash val="solid"/>
          </a:ln>
        </p:spPr>
      </p:sp>
      <p:pic>
        <p:nvPicPr>
          <p:cNvPr id="38" name="Image 8" descr="preencoded.png">
            <a:extLst>
              <a:ext uri="{FF2B5EF4-FFF2-40B4-BE49-F238E27FC236}">
                <a16:creationId xmlns:a16="http://schemas.microsoft.com/office/drawing/2014/main" id="{0F0A1EB3-D13A-B446-EE9C-1AF17C6C9F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912" y="4462272"/>
            <a:ext cx="347472" cy="347472"/>
          </a:xfrm>
          <a:prstGeom prst="rect">
            <a:avLst/>
          </a:prstGeom>
        </p:spPr>
      </p:pic>
      <p:sp>
        <p:nvSpPr>
          <p:cNvPr id="39" name="Text 28">
            <a:extLst>
              <a:ext uri="{FF2B5EF4-FFF2-40B4-BE49-F238E27FC236}">
                <a16:creationId xmlns:a16="http://schemas.microsoft.com/office/drawing/2014/main" id="{A581A1B6-7549-F62E-3376-D3E08BA66878}"/>
              </a:ext>
            </a:extLst>
          </p:cNvPr>
          <p:cNvSpPr/>
          <p:nvPr/>
        </p:nvSpPr>
        <p:spPr>
          <a:xfrm>
            <a:off x="914400" y="4389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"Technology can help save forests and lives."</a:t>
            </a:r>
            <a:endParaRPr lang="en-US" sz="1400" dirty="0"/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34518405-2AE0-C3DE-805E-F16CBE9930C8}"/>
              </a:ext>
            </a:extLst>
          </p:cNvPr>
          <p:cNvSpPr/>
          <p:nvPr/>
        </p:nvSpPr>
        <p:spPr>
          <a:xfrm>
            <a:off x="7589520" y="4434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</a:rPr>
              <a:t>— Thank You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01425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431</Words>
  <Application>Microsoft Office PowerPoint</Application>
  <PresentationFormat>On-screen Show (16:9)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Wildfire Risk Classification</dc:title>
  <dc:subject>PptxGenJS Presentation</dc:subject>
  <dc:creator>PptxGenJS</dc:creator>
  <cp:lastModifiedBy>savin jees</cp:lastModifiedBy>
  <cp:revision>3</cp:revision>
  <dcterms:created xsi:type="dcterms:W3CDTF">2026-05-16T10:46:34Z</dcterms:created>
  <dcterms:modified xsi:type="dcterms:W3CDTF">2026-05-16T16:47:47Z</dcterms:modified>
</cp:coreProperties>
</file>